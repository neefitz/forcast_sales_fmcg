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8"/>
  </p:notesMasterIdLst>
  <p:handoutMasterIdLst>
    <p:handoutMasterId r:id="rId19"/>
  </p:handoutMasterIdLst>
  <p:sldIdLst>
    <p:sldId id="298" r:id="rId4"/>
    <p:sldId id="283" r:id="rId5"/>
    <p:sldId id="294" r:id="rId6"/>
    <p:sldId id="299" r:id="rId7"/>
    <p:sldId id="300" r:id="rId8"/>
    <p:sldId id="301" r:id="rId9"/>
    <p:sldId id="302" r:id="rId10"/>
    <p:sldId id="304" r:id="rId11"/>
    <p:sldId id="310" r:id="rId12"/>
    <p:sldId id="305" r:id="rId13"/>
    <p:sldId id="306" r:id="rId14"/>
    <p:sldId id="308" r:id="rId15"/>
    <p:sldId id="309" r:id="rId16"/>
    <p:sldId id="296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13/12/2025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13/12/2025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87260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4D8D1-9F0D-F14D-73CA-B2AF97BE0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55B351-B020-D729-D412-79A5A2248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E3A044-A6B0-4B57-2185-CEA9658F8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FC8EBB-36CD-41FB-2EB5-F59667717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12205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17F3-B548-687E-5503-AC80C7B2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56BFA3-1B50-C037-2DC8-A67754E0C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95186B-8D59-0CB5-5F99-22FABDE0D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5F070F-56B7-8F40-9E37-504BAB27D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36705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3CF2-BB40-F5C7-BC9A-D4965662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027795-FA99-8935-31C5-C5ED9F665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976594-9019-6441-FD2C-4BD87A439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D52373-8331-E2C7-72C5-AE4CDB421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14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B648-2BE3-B626-38D3-63E9223C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2B25BA-50A0-36AE-F39C-2151DC28D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94D362-6A8E-FF72-1B37-0C27E0687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3C015C-E1FA-8925-9D9A-B1F5614AB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74419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6B06-A927-A57F-22F3-A362A221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BCDFF6-2EB8-35A7-C97B-DABEB4F7C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D1ABFB-11FE-5D68-AC3C-470606763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53AFC6-C51F-46F7-0402-1BD0FCA4B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4193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02B4-4D20-3139-D1D4-D7979CB8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88F544-38AB-2EBC-A018-B9DA139D3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C9D6E0-74DD-52E7-9420-DC51FCCB3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892B4B-C0E2-608D-DA76-B297AB5613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31411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4DBC8-D7D2-1FB8-C938-44700C94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130086-98AD-D61F-3020-54B990289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A44843-1442-FCAF-2007-078B7FA42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653507-E849-2795-19D7-23460F662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9588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D414E-9E4B-6F2E-8BE7-C1CBC111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B4E8E3-A57F-B77C-EB15-5BBFCEE63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D15FFB-D98B-4DFC-6F87-57F3B997E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04B414-A97A-D3C1-9A81-855081A4C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00209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25C5A-402D-5DE5-EAE3-96C3067E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B6B5C9-FF2C-7227-8DF0-A75990F95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D34704-47F0-E43F-E26D-A6F7BD2BF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9C13F5-E66B-5BA4-D258-7819103E7C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11825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3913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es-ES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s-ES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s-E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s-ES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https://pixabay.com/nl/photos/warenhuis-winkelen-mode-119210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ENvkUTNYWAQ03hEer6ddK-shfDq5CeAn/view?usp=drive_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xsyz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 descr="Una tienda de comida&#10;&#10;El contenido generado por IA puede ser incorrecto.">
            <a:extLst>
              <a:ext uri="{FF2B5EF4-FFF2-40B4-BE49-F238E27FC236}">
                <a16:creationId xmlns:a16="http://schemas.microsoft.com/office/drawing/2014/main" id="{E6BDED9A-E39B-DE23-7865-4624924896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209" b="1209"/>
          <a:stretch/>
        </p:blipFill>
        <p:spPr>
          <a:xfrm>
            <a:off x="2411412" y="334"/>
            <a:ext cx="9780588" cy="6370684"/>
          </a:xfrm>
          <a:noFill/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5958000" cy="1958400"/>
          </a:xfrm>
        </p:spPr>
        <p:txBody>
          <a:bodyPr rtlCol="0" anchor="ctr">
            <a:normAutofit/>
          </a:bodyPr>
          <a:lstStyle/>
          <a:p>
            <a:pPr rtl="0"/>
            <a:r>
              <a:rPr lang="es-ES" noProof="0" dirty="0"/>
              <a:t>DS MARKET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10760"/>
            <a:ext cx="5956300" cy="1100565"/>
          </a:xfrm>
        </p:spPr>
        <p:txBody>
          <a:bodyPr rtlCol="0">
            <a:normAutofit/>
          </a:bodyPr>
          <a:lstStyle/>
          <a:p>
            <a:pPr rtl="0"/>
            <a:r>
              <a:rPr lang="es-ES" noProof="0" dirty="0"/>
              <a:t>GRUPO 3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3392A4-F49D-5430-BED3-DF5F3A0A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0000" y="6371351"/>
            <a:ext cx="432000" cy="4320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es-ES" noProof="0" smtClean="0"/>
              <a:pPr rtl="0">
                <a:spcAft>
                  <a:spcPts val="600"/>
                </a:spcAft>
              </a:pPr>
              <a:t>1</a:t>
            </a:fld>
            <a:endParaRPr lang="es-ES" noProof="0" dirty="0"/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B0BE033F-A819-798D-F266-012DEEB40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es-ES" sz="2800" noProof="0" dirty="0"/>
              <a:t>Análisis de los datos históricos y tendencias</a:t>
            </a:r>
            <a:r>
              <a:rPr lang="es-ES" noProof="0" dirty="0"/>
              <a:t>. </a:t>
            </a:r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sz="5200" noProof="0" dirty="0" err="1"/>
              <a:t>Analisis</a:t>
            </a:r>
            <a:r>
              <a:rPr lang="es-ES" sz="5200" noProof="0" dirty="0"/>
              <a:t> de los datos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/>
              <a:t>2</a:t>
            </a:fld>
            <a:endParaRPr lang="es-ES" noProof="0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733D5F2D-0E5D-8CE2-E859-166C33B9B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dirty="0"/>
              <a:t>Análisis temporales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000" y="1624069"/>
            <a:ext cx="5294745" cy="360000"/>
          </a:xfrm>
        </p:spPr>
        <p:txBody>
          <a:bodyPr rtlCol="0"/>
          <a:lstStyle/>
          <a:p>
            <a:pPr rtl="0"/>
            <a:r>
              <a:rPr lang="es-ES" noProof="0" dirty="0"/>
              <a:t>El negocio vas creciendo años tras años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3</a:t>
            </a:fld>
            <a:endParaRPr lang="es-ES" noProof="0" dirty="0"/>
          </a:p>
        </p:txBody>
      </p:sp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7AFFFDC-7403-C79E-D4B5-5238FA53F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36" y="1966317"/>
            <a:ext cx="5706271" cy="3753374"/>
          </a:xfrm>
          <a:prstGeom prst="rect">
            <a:avLst/>
          </a:prstGeom>
        </p:spPr>
      </p:pic>
      <p:pic>
        <p:nvPicPr>
          <p:cNvPr id="11" name="Imagen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65177B3-27FF-62EF-6E08-4D3D5C0F2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507" y="2300575"/>
            <a:ext cx="6134956" cy="2514951"/>
          </a:xfrm>
          <a:prstGeom prst="rect">
            <a:avLst/>
          </a:prstGeom>
        </p:spPr>
      </p:pic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715B9F46-30D4-7FF4-2762-2B5E8B358FCA}"/>
              </a:ext>
            </a:extLst>
          </p:cNvPr>
          <p:cNvSpPr txBox="1">
            <a:spLocks/>
          </p:cNvSpPr>
          <p:nvPr/>
        </p:nvSpPr>
        <p:spPr>
          <a:xfrm>
            <a:off x="501272" y="5719691"/>
            <a:ext cx="4754219" cy="651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No sufre de estacionalidades, podemos las ventas son constantes al largo de los meses 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DE85C876-C87A-135A-983D-2E56BE3960C3}"/>
              </a:ext>
            </a:extLst>
          </p:cNvPr>
          <p:cNvSpPr txBox="1">
            <a:spLocks/>
          </p:cNvSpPr>
          <p:nvPr/>
        </p:nvSpPr>
        <p:spPr>
          <a:xfrm>
            <a:off x="6538908" y="4699073"/>
            <a:ext cx="5176583" cy="651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Los fines de semanas son los días con mayores volúmenes de ventas</a:t>
            </a:r>
          </a:p>
        </p:txBody>
      </p:sp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03BDB70C-66C3-0656-5A01-18EE9E578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548D-E161-A911-266A-13D19091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DBD5-B7EB-093E-51E9-C0ACB2B4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dirty="0"/>
              <a:t>Análisis </a:t>
            </a:r>
            <a:r>
              <a:rPr lang="es-ES" noProof="0" dirty="0" err="1"/>
              <a:t>geografica</a:t>
            </a:r>
            <a:endParaRPr lang="es-ES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184A69-0C67-5792-E084-C7265EE068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752608" y="1745897"/>
            <a:ext cx="3223392" cy="1422176"/>
          </a:xfrm>
        </p:spPr>
        <p:txBody>
          <a:bodyPr rtlCol="0"/>
          <a:lstStyle/>
          <a:p>
            <a:pPr rtl="0"/>
            <a:r>
              <a:rPr lang="es-ES" noProof="0" dirty="0"/>
              <a:t>New York es la zona que mayor volumen de ventas y ingreso genera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4C631F-4798-9BE3-7022-5DC252F6F6D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4</a:t>
            </a:fld>
            <a:endParaRPr lang="es-ES" noProof="0" dirty="0"/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D76561D-FD53-3FBB-3A4A-33B69FE80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30"/>
          <a:stretch>
            <a:fillRect/>
          </a:stretch>
        </p:blipFill>
        <p:spPr>
          <a:xfrm>
            <a:off x="0" y="1071642"/>
            <a:ext cx="8474517" cy="1967890"/>
          </a:xfrm>
          <a:prstGeom prst="rect">
            <a:avLst/>
          </a:prstGeom>
        </p:spPr>
      </p:pic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F7FEC3FE-228D-1F5E-B185-CE0E6D64C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26" y="3264675"/>
            <a:ext cx="8386619" cy="3035862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E44CCB7B-CFA5-9DA3-CEED-EC869F488B15}"/>
              </a:ext>
            </a:extLst>
          </p:cNvPr>
          <p:cNvSpPr txBox="1">
            <a:spLocks/>
          </p:cNvSpPr>
          <p:nvPr/>
        </p:nvSpPr>
        <p:spPr>
          <a:xfrm>
            <a:off x="203200" y="4068841"/>
            <a:ext cx="3066473" cy="1967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 err="1"/>
              <a:t>Tribeca</a:t>
            </a:r>
            <a:r>
              <a:rPr lang="es-ES" noProof="0" dirty="0"/>
              <a:t> es la tienda con mayore volumen de ventas (17% del total) y de </a:t>
            </a:r>
            <a:r>
              <a:rPr lang="es-ES" noProof="0" dirty="0" err="1"/>
              <a:t>revenue</a:t>
            </a:r>
            <a:r>
              <a:rPr lang="es-ES" noProof="0" dirty="0"/>
              <a:t>(12%),</a:t>
            </a:r>
          </a:p>
          <a:p>
            <a:r>
              <a:rPr lang="es-ES" noProof="0" dirty="0"/>
              <a:t>Pero Harlem es la tienda con el </a:t>
            </a:r>
            <a:r>
              <a:rPr lang="es-ES" noProof="0" dirty="0" err="1"/>
              <a:t>Average</a:t>
            </a:r>
            <a:r>
              <a:rPr lang="es-ES" noProof="0" dirty="0"/>
              <a:t> Price de producto vendido mas alto,</a:t>
            </a:r>
          </a:p>
        </p:txBody>
      </p:sp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A1ED8637-B1BA-2B9B-E581-4A1608491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2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2BC1F-A5BB-4DF5-3586-BE718580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F82D4-0739-1AC7-4E9A-F2BCB8AD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s-ES" sz="3000" b="1" kern="1200" spc="-150" noProof="0" dirty="0">
                <a:latin typeface="+mj-lt"/>
                <a:ea typeface="+mj-ea"/>
                <a:cs typeface="+mj-cs"/>
              </a:rPr>
              <a:t>Análisis de las categorías y los departamentos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C2DC09-A41A-D399-5DBE-C6A02D3B77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03690" y="1007999"/>
            <a:ext cx="4367623" cy="796357"/>
          </a:xfrm>
        </p:spPr>
        <p:txBody>
          <a:bodyPr vert="horz" lIns="0" tIns="0" rIns="0" bIns="0" rtlCol="0">
            <a:normAutofit fontScale="92500" lnSpcReduction="20000"/>
          </a:bodyPr>
          <a:lstStyle/>
          <a:p>
            <a:r>
              <a:rPr lang="es-ES" kern="1200" noProof="0" dirty="0" err="1">
                <a:latin typeface="+mn-lt"/>
                <a:ea typeface="+mn-ea"/>
                <a:cs typeface="+mn-cs"/>
              </a:rPr>
              <a:t>Supermarket</a:t>
            </a:r>
            <a:r>
              <a:rPr lang="es-ES" kern="1200" noProof="0" dirty="0">
                <a:latin typeface="+mn-lt"/>
                <a:ea typeface="+mn-ea"/>
                <a:cs typeface="+mn-cs"/>
              </a:rPr>
              <a:t> 3 generar cas el 50% de las total ventas, pero es la categoría con el precio promedio mas bajo, mientras  Accesories 1 es la categoría con el precio promedio mas alto($8)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DE3138-F36E-1780-0A23-5553BC9315E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s-ES" noProof="0" smtClean="0"/>
              <a:pPr>
                <a:spcAft>
                  <a:spcPts val="600"/>
                </a:spcAft>
              </a:pPr>
              <a:t>5</a:t>
            </a:fld>
            <a:endParaRPr lang="es-ES" noProof="0" dirty="0"/>
          </a:p>
        </p:txBody>
      </p:sp>
      <p:pic>
        <p:nvPicPr>
          <p:cNvPr id="11" name="Imagen 10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B7C2F3BD-C007-B0B0-7FBB-30F20EB35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7" t="-235" r="64356" b="55756"/>
          <a:stretch>
            <a:fillRect/>
          </a:stretch>
        </p:blipFill>
        <p:spPr>
          <a:xfrm>
            <a:off x="0" y="1432213"/>
            <a:ext cx="3636143" cy="2194646"/>
          </a:xfrm>
          <a:prstGeom prst="rect">
            <a:avLst/>
          </a:prstGeom>
        </p:spPr>
      </p:pic>
      <p:pic>
        <p:nvPicPr>
          <p:cNvPr id="13" name="Imagen 12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89DA8569-5975-7B7B-63F8-788A035C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7" t="50479" r="64356" b="5973"/>
          <a:stretch>
            <a:fillRect/>
          </a:stretch>
        </p:blipFill>
        <p:spPr>
          <a:xfrm>
            <a:off x="3636143" y="1455208"/>
            <a:ext cx="3636142" cy="2148657"/>
          </a:xfrm>
          <a:prstGeom prst="rect">
            <a:avLst/>
          </a:prstGeom>
        </p:spPr>
      </p:pic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C6C1BC22-57E6-3DED-FE66-54D75D9EF48A}"/>
              </a:ext>
            </a:extLst>
          </p:cNvPr>
          <p:cNvSpPr txBox="1">
            <a:spLocks/>
          </p:cNvSpPr>
          <p:nvPr/>
        </p:nvSpPr>
        <p:spPr>
          <a:xfrm>
            <a:off x="277631" y="4203955"/>
            <a:ext cx="5176583" cy="651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 err="1"/>
              <a:t>Supermarket</a:t>
            </a:r>
            <a:r>
              <a:rPr lang="es-ES" noProof="0" dirty="0"/>
              <a:t> es el departamento con el </a:t>
            </a:r>
            <a:r>
              <a:rPr lang="es-ES" noProof="0" dirty="0" err="1"/>
              <a:t>turnover</a:t>
            </a:r>
            <a:r>
              <a:rPr lang="es-ES" noProof="0" dirty="0"/>
              <a:t> mas alto,</a:t>
            </a:r>
          </a:p>
          <a:p>
            <a:r>
              <a:rPr lang="es-ES" noProof="0" dirty="0"/>
              <a:t>Pero Home and Garden con solo 22% de las ventas genera el 30% de los </a:t>
            </a:r>
            <a:r>
              <a:rPr lang="es-ES" noProof="0" dirty="0" err="1"/>
              <a:t>revenues</a:t>
            </a:r>
            <a:endParaRPr lang="es-ES" noProof="0" dirty="0"/>
          </a:p>
        </p:txBody>
      </p:sp>
      <p:pic>
        <p:nvPicPr>
          <p:cNvPr id="17" name="Imagen 1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3C66399-FD9E-D269-DAA4-8E896A049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20" y="2395565"/>
            <a:ext cx="5255454" cy="3877416"/>
          </a:xfrm>
          <a:prstGeom prst="rect">
            <a:avLst/>
          </a:prstGeom>
        </p:spPr>
      </p:pic>
      <p:pic>
        <p:nvPicPr>
          <p:cNvPr id="18" name="Imagen 17" descr="Texto&#10;&#10;El contenido generado por IA puede ser incorrecto.">
            <a:extLst>
              <a:ext uri="{FF2B5EF4-FFF2-40B4-BE49-F238E27FC236}">
                <a16:creationId xmlns:a16="http://schemas.microsoft.com/office/drawing/2014/main" id="{0A11537F-4C54-07F1-363C-2B17FD734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3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77E9F-D19C-4491-1A80-1489617C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814B6-DB94-0101-71BE-874105C18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s-ES" sz="3000" b="1" kern="1200" spc="-150" noProof="0" dirty="0">
                <a:latin typeface="+mj-lt"/>
                <a:ea typeface="+mj-ea"/>
                <a:cs typeface="+mj-cs"/>
              </a:rPr>
              <a:t>Análisis del </a:t>
            </a:r>
            <a:r>
              <a:rPr lang="es-ES" sz="3000" b="1" kern="1200" spc="-150" noProof="0" dirty="0" err="1">
                <a:latin typeface="+mj-lt"/>
                <a:ea typeface="+mj-ea"/>
                <a:cs typeface="+mj-cs"/>
              </a:rPr>
              <a:t>turnover</a:t>
            </a:r>
            <a:r>
              <a:rPr lang="es-ES" sz="3000" b="1" kern="1200" spc="-150" noProof="0" dirty="0">
                <a:latin typeface="+mj-lt"/>
                <a:ea typeface="+mj-ea"/>
                <a:cs typeface="+mj-cs"/>
              </a:rPr>
              <a:t> de productos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B23E0A-B81C-779C-75B4-4EFFDC42B20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s-ES" noProof="0" smtClean="0"/>
              <a:pPr>
                <a:spcAft>
                  <a:spcPts val="600"/>
                </a:spcAft>
              </a:pPr>
              <a:t>6</a:t>
            </a:fld>
            <a:endParaRPr lang="es-ES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F95680-156E-5A84-94CF-CFC0F62361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7999"/>
            <a:ext cx="11339513" cy="601725"/>
          </a:xfrm>
        </p:spPr>
        <p:txBody>
          <a:bodyPr/>
          <a:lstStyle/>
          <a:p>
            <a:r>
              <a:rPr lang="es-ES" noProof="0" dirty="0"/>
              <a:t>Tenemos hecho una análisis a nivel de tienda, departamento y </a:t>
            </a:r>
            <a:r>
              <a:rPr lang="es-ES" noProof="0" dirty="0" err="1"/>
              <a:t>item</a:t>
            </a:r>
            <a:r>
              <a:rPr lang="es-ES" noProof="0" dirty="0"/>
              <a:t> para poder identificar los productos con mayor y menor </a:t>
            </a:r>
            <a:r>
              <a:rPr lang="es-ES" noProof="0" dirty="0" err="1"/>
              <a:t>turnover</a:t>
            </a:r>
            <a:endParaRPr lang="es-ES" noProof="0" dirty="0"/>
          </a:p>
        </p:txBody>
      </p:sp>
      <p:pic>
        <p:nvPicPr>
          <p:cNvPr id="10" name="Imagen 9" descr="Tabla&#10;&#10;El contenido generado por IA puede ser incorrecto.">
            <a:extLst>
              <a:ext uri="{FF2B5EF4-FFF2-40B4-BE49-F238E27FC236}">
                <a16:creationId xmlns:a16="http://schemas.microsoft.com/office/drawing/2014/main" id="{D40CAD13-984E-8092-3BA3-5345028B2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86" y="3674570"/>
            <a:ext cx="4925003" cy="2278555"/>
          </a:xfrm>
          <a:prstGeom prst="rect">
            <a:avLst/>
          </a:prstGeom>
        </p:spPr>
      </p:pic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8828F73E-DE53-1135-0DFE-215D378EF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932413"/>
            <a:ext cx="5466481" cy="2058124"/>
          </a:xfrm>
          <a:prstGeom prst="rect">
            <a:avLst/>
          </a:prstGeom>
        </p:spPr>
      </p:pic>
      <p:pic>
        <p:nvPicPr>
          <p:cNvPr id="19" name="Imagen 18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66B80005-F99B-2E1E-C823-B82E31160F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/>
          <a:stretch>
            <a:fillRect/>
          </a:stretch>
        </p:blipFill>
        <p:spPr>
          <a:xfrm>
            <a:off x="431800" y="2724052"/>
            <a:ext cx="562053" cy="704948"/>
          </a:xfrm>
          <a:prstGeom prst="rect">
            <a:avLst/>
          </a:prstGeom>
        </p:spPr>
      </p:pic>
      <p:pic>
        <p:nvPicPr>
          <p:cNvPr id="20" name="Imagen 19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00EE3A48-95EB-3E00-39D0-7F0B44FCB2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2710"/>
          <a:stretch>
            <a:fillRect/>
          </a:stretch>
        </p:blipFill>
        <p:spPr>
          <a:xfrm>
            <a:off x="6267371" y="4157756"/>
            <a:ext cx="419179" cy="704948"/>
          </a:xfrm>
          <a:prstGeom prst="rect">
            <a:avLst/>
          </a:prstGeom>
        </p:spPr>
      </p:pic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FD1C045B-1840-B978-F126-FB8C68A7D591}"/>
              </a:ext>
            </a:extLst>
          </p:cNvPr>
          <p:cNvSpPr txBox="1">
            <a:spLocks/>
          </p:cNvSpPr>
          <p:nvPr/>
        </p:nvSpPr>
        <p:spPr>
          <a:xfrm>
            <a:off x="6762750" y="4264701"/>
            <a:ext cx="4352925" cy="6017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Productos con mayores </a:t>
            </a:r>
            <a:r>
              <a:rPr lang="es-ES" noProof="0" dirty="0" err="1"/>
              <a:t>turnover</a:t>
            </a:r>
            <a:r>
              <a:rPr lang="es-ES" noProof="0" dirty="0"/>
              <a:t> que siempre témenos que tener en stock</a:t>
            </a:r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6656542B-1132-D5F2-4D93-675F22B8C1AD}"/>
              </a:ext>
            </a:extLst>
          </p:cNvPr>
          <p:cNvSpPr txBox="1">
            <a:spLocks/>
          </p:cNvSpPr>
          <p:nvPr/>
        </p:nvSpPr>
        <p:spPr>
          <a:xfrm>
            <a:off x="923924" y="2829497"/>
            <a:ext cx="4352925" cy="6017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noProof="0" dirty="0"/>
              <a:t>Producto con bajo </a:t>
            </a:r>
            <a:r>
              <a:rPr lang="es-ES" noProof="0" dirty="0" err="1"/>
              <a:t>turnover</a:t>
            </a:r>
            <a:r>
              <a:rPr lang="es-ES" noProof="0" dirty="0"/>
              <a:t> que vigilar para </a:t>
            </a:r>
            <a:r>
              <a:rPr lang="es-ES" noProof="0" dirty="0" err="1"/>
              <a:t>major</a:t>
            </a:r>
            <a:r>
              <a:rPr lang="es-ES" noProof="0" dirty="0"/>
              <a:t> manejo del </a:t>
            </a:r>
            <a:r>
              <a:rPr lang="es-ES" noProof="0" dirty="0" err="1"/>
              <a:t>inventary</a:t>
            </a:r>
            <a:endParaRPr lang="es-ES" noProof="0" dirty="0"/>
          </a:p>
        </p:txBody>
      </p:sp>
      <p:pic>
        <p:nvPicPr>
          <p:cNvPr id="23" name="Imagen 22" descr="Texto&#10;&#10;El contenido generado por IA puede ser incorrecto.">
            <a:extLst>
              <a:ext uri="{FF2B5EF4-FFF2-40B4-BE49-F238E27FC236}">
                <a16:creationId xmlns:a16="http://schemas.microsoft.com/office/drawing/2014/main" id="{AF32BC72-D6D0-C994-FF08-5D97AAA54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3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EB38-592D-B274-AEE2-EFAC860F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F86BC8-5571-176E-9A66-768D9AE35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25554"/>
            <a:ext cx="5472000" cy="686989"/>
          </a:xfrm>
        </p:spPr>
        <p:txBody>
          <a:bodyPr rtlCol="0"/>
          <a:lstStyle/>
          <a:p>
            <a:pPr marL="0" indent="0" algn="ctr" rtl="0">
              <a:buNone/>
            </a:pPr>
            <a:r>
              <a:rPr lang="es-ES" sz="2400" noProof="0" dirty="0"/>
              <a:t>Evaluación del modelo y de las predicciones</a:t>
            </a:r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155F54C8-CDD2-F173-44DF-597B59F335D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A3EBCA4-CA95-5324-38FA-A88CB9B5A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2C704C-68FB-7179-D07C-37B37AEC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sz="5200" noProof="0" dirty="0" err="1"/>
              <a:t>Modeling</a:t>
            </a:r>
            <a:endParaRPr lang="es-ES" sz="5200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C5A893-CE0E-A60B-E36E-ED249EB6062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7</a:t>
            </a:fld>
            <a:endParaRPr lang="es-ES" noProof="0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DE78AEB-4DF9-A376-96C5-C53FEB279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87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5026-AB93-3B60-7463-C87E958B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5F7093-BB97-B352-87F0-C65EA9B245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60000" y="6371351"/>
            <a:ext cx="432000" cy="432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s-ES" noProof="0" smtClean="0"/>
              <a:pPr>
                <a:spcAft>
                  <a:spcPts val="600"/>
                </a:spcAft>
              </a:pPr>
              <a:t>8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518B6C-FA9C-260F-F8B1-48689F6D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s-ES" sz="3000" b="1" kern="1200" spc="-150" noProof="0" dirty="0"/>
              <a:t>Análisis de las predicciones vs datos reales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48957151-67EF-67F0-EEE1-29032529239F}"/>
              </a:ext>
            </a:extLst>
          </p:cNvPr>
          <p:cNvSpPr txBox="1">
            <a:spLocks/>
          </p:cNvSpPr>
          <p:nvPr/>
        </p:nvSpPr>
        <p:spPr>
          <a:xfrm>
            <a:off x="326615" y="5294249"/>
            <a:ext cx="11246260" cy="79635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/>
              <a:t>El modelo esta solido y robusto, demostrando una desviación standard de solo 1,71% vs datos reales, lo que nos permite tener seguridades para las planificaciones a 4 semanas.</a:t>
            </a:r>
          </a:p>
        </p:txBody>
      </p:sp>
      <p:pic>
        <p:nvPicPr>
          <p:cNvPr id="11" name="Imagen 10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905DFD6C-6F3D-9F82-5CA9-69C2CB0D64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79"/>
          <a:stretch>
            <a:fillRect/>
          </a:stretch>
        </p:blipFill>
        <p:spPr>
          <a:xfrm>
            <a:off x="110615" y="828691"/>
            <a:ext cx="11865385" cy="429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4218-4BAD-C282-94F9-D7D706055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05ED20-8F72-B0C2-2493-8A9BA65808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60000" y="6371351"/>
            <a:ext cx="432000" cy="432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s-ES" noProof="0" smtClean="0"/>
              <a:pPr>
                <a:spcAft>
                  <a:spcPts val="600"/>
                </a:spcAft>
              </a:pPr>
              <a:t>9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131710-8A2D-6531-EC60-87453292D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/>
              <a:t>P</a:t>
            </a:r>
            <a:r>
              <a:rPr lang="es-ES" sz="3000" dirty="0" err="1"/>
              <a:t>rediction</a:t>
            </a:r>
            <a:endParaRPr lang="es-ES" sz="3000" b="1" kern="1200" spc="-150" noProof="0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87110523-1365-5A78-5EE4-020D8E58FE89}"/>
              </a:ext>
            </a:extLst>
          </p:cNvPr>
          <p:cNvSpPr txBox="1">
            <a:spLocks/>
          </p:cNvSpPr>
          <p:nvPr/>
        </p:nvSpPr>
        <p:spPr>
          <a:xfrm>
            <a:off x="326615" y="4052045"/>
            <a:ext cx="11246260" cy="796357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noProof="0" dirty="0"/>
              <a:t>Podemos filtrar por Tiempo, locación and </a:t>
            </a:r>
            <a:r>
              <a:rPr lang="es-ES" noProof="0" dirty="0" err="1"/>
              <a:t>item</a:t>
            </a:r>
            <a:r>
              <a:rPr lang="es-ES" noProof="0" dirty="0"/>
              <a:t> para obtener las previsiones de ventas para un determinado articulo y así ajustar el stock para las próximas 4 semanas.</a:t>
            </a:r>
          </a:p>
          <a:p>
            <a:pPr marL="0" indent="0">
              <a:buNone/>
            </a:pPr>
            <a:r>
              <a:rPr lang="es-ES" noProof="0" dirty="0">
                <a:hlinkClick r:id="rId3"/>
              </a:rPr>
              <a:t>Dashboard en </a:t>
            </a:r>
            <a:r>
              <a:rPr lang="es-ES" noProof="0" dirty="0" err="1">
                <a:hlinkClick r:id="rId3"/>
              </a:rPr>
              <a:t>Powerbi</a:t>
            </a:r>
            <a:endParaRPr lang="es-ES" noProof="0" dirty="0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D557E8EA-D28A-F0CA-B640-ADC5B01F61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5" r="589"/>
          <a:stretch>
            <a:fillRect/>
          </a:stretch>
        </p:blipFill>
        <p:spPr>
          <a:xfrm>
            <a:off x="0" y="864000"/>
            <a:ext cx="12051102" cy="267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2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28EF-C9EA-2CFF-26A5-52B8F617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5B3849-681D-9E51-FCB8-578DF23A9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686989"/>
          </a:xfrm>
        </p:spPr>
        <p:txBody>
          <a:bodyPr rtlCol="0"/>
          <a:lstStyle/>
          <a:p>
            <a:pPr marL="0" indent="0" rtl="0">
              <a:buNone/>
            </a:pPr>
            <a:r>
              <a:rPr lang="es-ES" noProof="0" dirty="0"/>
              <a:t>Uso de las predicciones en tiendas para mejor manejo de sus inventarios y planificación de ordenes</a:t>
            </a:r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FA3E2478-A691-F37C-4C3F-31F45838C06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17E5F4BE-9A89-0391-A829-1032FC9D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1E08E7-2BD8-CD35-07B6-CFCDC3E1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sz="5200" noProof="0" dirty="0"/>
              <a:t>Como usar estas predicciones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370746-5E3C-2DC3-A19E-386BB2376B0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10</a:t>
            </a:fld>
            <a:endParaRPr lang="es-ES" noProof="0" dirty="0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354D3FB8-240E-8B9F-1B69-BBF07E251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5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D330-7786-A9B8-2712-29D97328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E3F2C8-B9BF-F958-8A1C-699E3A1B40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60000" y="6371351"/>
            <a:ext cx="432000" cy="432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s-ES" noProof="0" smtClean="0"/>
              <a:pPr>
                <a:spcAft>
                  <a:spcPts val="600"/>
                </a:spcAft>
              </a:pPr>
              <a:t>11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1667AA-4E06-5BAE-1464-67ED2801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s-ES" sz="2800" noProof="0" dirty="0"/>
              <a:t>La solución: para actualización semanales de forma </a:t>
            </a:r>
            <a:r>
              <a:rPr lang="es-ES" sz="2800" noProof="0" dirty="0" err="1"/>
              <a:t>automatica</a:t>
            </a:r>
            <a:endParaRPr lang="es-ES" sz="3000" b="1" kern="1200" spc="-150" noProof="0" dirty="0"/>
          </a:p>
        </p:txBody>
      </p:sp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49D3E240-F2F7-7D49-14D9-57AF2F38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70" y="848737"/>
            <a:ext cx="5079109" cy="2580263"/>
          </a:xfrm>
          <a:prstGeom prst="rect">
            <a:avLst/>
          </a:prstGeom>
        </p:spPr>
      </p:pic>
      <p:pic>
        <p:nvPicPr>
          <p:cNvPr id="1032" name="Picture 8" descr="GitHub Logos and Usage · GitHub">
            <a:extLst>
              <a:ext uri="{FF2B5EF4-FFF2-40B4-BE49-F238E27FC236}">
                <a16:creationId xmlns:a16="http://schemas.microsoft.com/office/drawing/2014/main" id="{6008C0B3-025B-0C63-D35D-3C33F1FBE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6886" y="696863"/>
            <a:ext cx="1489494" cy="148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8B8581-F07D-495E-ADBA-9CB731C00903}"/>
              </a:ext>
            </a:extLst>
          </p:cNvPr>
          <p:cNvSpPr>
            <a:spLocks noGrp="1"/>
          </p:cNvSpPr>
          <p:nvPr/>
        </p:nvSpPr>
        <p:spPr>
          <a:xfrm>
            <a:off x="10668760" y="2193972"/>
            <a:ext cx="923026" cy="877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 sz="2200"/>
            </a:pPr>
            <a:r>
              <a:rPr lang="es-ES" sz="4000" b="1" noProof="0" dirty="0"/>
              <a:t>+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738A8A-9A8D-C377-D782-A1A28D70AAD0}"/>
              </a:ext>
            </a:extLst>
          </p:cNvPr>
          <p:cNvSpPr>
            <a:spLocks noGrp="1"/>
          </p:cNvSpPr>
          <p:nvPr/>
        </p:nvSpPr>
        <p:spPr>
          <a:xfrm>
            <a:off x="5554153" y="923208"/>
            <a:ext cx="4952733" cy="198861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r>
              <a:rPr lang="es-ES" noProof="0" dirty="0"/>
              <a:t>Actualización de los datos: Fuente (Excel / CSV /SQL)</a:t>
            </a:r>
          </a:p>
          <a:p>
            <a:pPr>
              <a:defRPr sz="2200"/>
            </a:pPr>
            <a:endParaRPr lang="es-ES" noProof="0" dirty="0"/>
          </a:p>
          <a:p>
            <a:pPr>
              <a:defRPr sz="2200"/>
            </a:pPr>
            <a:r>
              <a:rPr lang="es-ES" noProof="0" dirty="0"/>
              <a:t>Script Python :</a:t>
            </a:r>
          </a:p>
          <a:p>
            <a:pPr lvl="1">
              <a:defRPr sz="2200"/>
            </a:pPr>
            <a:r>
              <a:rPr lang="es-ES" noProof="0" dirty="0"/>
              <a:t>Limpieza y transformación de datos</a:t>
            </a:r>
          </a:p>
          <a:p>
            <a:pPr lvl="1">
              <a:defRPr sz="2200"/>
            </a:pPr>
            <a:r>
              <a:rPr lang="es-ES" noProof="0" dirty="0"/>
              <a:t>Estandarización del </a:t>
            </a:r>
            <a:r>
              <a:rPr lang="es-ES" noProof="0" dirty="0" err="1"/>
              <a:t>dataset</a:t>
            </a:r>
            <a:endParaRPr lang="es-ES" noProof="0" dirty="0"/>
          </a:p>
          <a:p>
            <a:pPr lvl="1">
              <a:defRPr sz="2200"/>
            </a:pPr>
            <a:r>
              <a:rPr lang="es-ES" noProof="0" dirty="0"/>
              <a:t>Generación automática del archivo final</a:t>
            </a:r>
          </a:p>
          <a:p>
            <a:pPr marL="457200" lvl="1" indent="0">
              <a:buNone/>
              <a:defRPr sz="2200"/>
            </a:pPr>
            <a:endParaRPr lang="es-ES" noProof="0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s-ES" sz="2200" noProof="0" dirty="0"/>
              <a:t>Se genera las nuevas predicciones de forma automática y comparte la información en </a:t>
            </a:r>
            <a:r>
              <a:rPr lang="es-ES" sz="2200" noProof="0" dirty="0" err="1"/>
              <a:t>one</a:t>
            </a:r>
            <a:r>
              <a:rPr lang="es-ES" sz="2200" dirty="0"/>
              <a:t>D</a:t>
            </a:r>
            <a:r>
              <a:rPr lang="es-ES" sz="2200" noProof="0" dirty="0" err="1"/>
              <a:t>rive</a:t>
            </a:r>
            <a:endParaRPr lang="es-ES" sz="2200" noProof="0" dirty="0"/>
          </a:p>
          <a:p>
            <a:pPr marL="457200" lvl="1" indent="0">
              <a:buNone/>
              <a:defRPr sz="2200"/>
            </a:pPr>
            <a:endParaRPr lang="es-ES" noProof="0" dirty="0"/>
          </a:p>
          <a:p>
            <a:pPr marL="457200" lvl="1" indent="0">
              <a:buNone/>
              <a:defRPr sz="2200"/>
            </a:pPr>
            <a:endParaRPr lang="es-ES" noProof="0" dirty="0"/>
          </a:p>
          <a:p>
            <a:pPr marL="457200" lvl="1" indent="0">
              <a:buNone/>
              <a:defRPr sz="2200"/>
            </a:pPr>
            <a:endParaRPr lang="es-ES" noProof="0" dirty="0"/>
          </a:p>
        </p:txBody>
      </p:sp>
      <p:pic>
        <p:nvPicPr>
          <p:cNvPr id="10" name="Picture 8" descr="GitHub Logos and Usage · GitHub">
            <a:extLst>
              <a:ext uri="{FF2B5EF4-FFF2-40B4-BE49-F238E27FC236}">
                <a16:creationId xmlns:a16="http://schemas.microsoft.com/office/drawing/2014/main" id="{42EC7872-7FAC-780F-FA12-262E382A3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24" y="951412"/>
            <a:ext cx="921834" cy="84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 descr="Imagen que contiene Código QR&#10;&#10;El contenido generado por IA puede ser incorrecto.">
            <a:extLst>
              <a:ext uri="{FF2B5EF4-FFF2-40B4-BE49-F238E27FC236}">
                <a16:creationId xmlns:a16="http://schemas.microsoft.com/office/drawing/2014/main" id="{B475ED64-1E38-D71A-7602-0C1BDD136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71" y="3488208"/>
            <a:ext cx="5164604" cy="2825063"/>
          </a:xfrm>
          <a:prstGeom prst="rect">
            <a:avLst/>
          </a:prstGeom>
        </p:spPr>
      </p:pic>
      <p:pic>
        <p:nvPicPr>
          <p:cNvPr id="13" name="Picture 8" descr="GitHub Logos and Usage · GitHub">
            <a:extLst>
              <a:ext uri="{FF2B5EF4-FFF2-40B4-BE49-F238E27FC236}">
                <a16:creationId xmlns:a16="http://schemas.microsoft.com/office/drawing/2014/main" id="{0C823B97-FD81-D8B3-32B1-5C86EE02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24" y="3683109"/>
            <a:ext cx="943848" cy="86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7C965C-A049-4E00-3B75-DC6FA65D851F}"/>
              </a:ext>
            </a:extLst>
          </p:cNvPr>
          <p:cNvSpPr>
            <a:spLocks noGrp="1"/>
          </p:cNvSpPr>
          <p:nvPr/>
        </p:nvSpPr>
        <p:spPr>
          <a:xfrm>
            <a:off x="5554153" y="3533922"/>
            <a:ext cx="4581886" cy="1926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r>
              <a:rPr lang="es-ES" noProof="0" dirty="0"/>
              <a:t>Se almacena los datos actualizados para tener acceso a datos históricos y nuevas predicciones y se conecta a </a:t>
            </a:r>
            <a:r>
              <a:rPr lang="es-ES" noProof="0" dirty="0" err="1"/>
              <a:t>Powerbi</a:t>
            </a:r>
            <a:endParaRPr lang="es-ES" noProof="0" dirty="0"/>
          </a:p>
          <a:p>
            <a:pPr marL="457200" lvl="1" indent="0">
              <a:buNone/>
              <a:defRPr sz="2200"/>
            </a:pPr>
            <a:endParaRPr lang="es-ES" noProof="0" dirty="0"/>
          </a:p>
          <a:p>
            <a:pPr marL="457200" lvl="1" indent="0">
              <a:buNone/>
              <a:defRPr sz="2200"/>
            </a:pPr>
            <a:endParaRPr lang="es-ES" noProof="0" dirty="0"/>
          </a:p>
        </p:txBody>
      </p:sp>
      <p:pic>
        <p:nvPicPr>
          <p:cNvPr id="1034" name="Picture 10" descr="OneDrive Logo, symbol, meaning, history, PNG, brand">
            <a:extLst>
              <a:ext uri="{FF2B5EF4-FFF2-40B4-BE49-F238E27FC236}">
                <a16:creationId xmlns:a16="http://schemas.microsoft.com/office/drawing/2014/main" id="{FF525A5C-48A0-650C-C4BC-91799D8931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1" r="10975"/>
          <a:stretch>
            <a:fillRect/>
          </a:stretch>
        </p:blipFill>
        <p:spPr bwMode="auto">
          <a:xfrm>
            <a:off x="10553740" y="3508715"/>
            <a:ext cx="1489494" cy="103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D40187D7-49B0-213C-995E-5CEE71F40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33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1F7A-F87D-3CA2-5877-B1F394A4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512693-E806-1CBC-5E7C-C2766AD6FE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60000" y="6371351"/>
            <a:ext cx="432000" cy="432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s-ES" noProof="0" smtClean="0"/>
              <a:pPr>
                <a:spcAft>
                  <a:spcPts val="600"/>
                </a:spcAft>
              </a:pPr>
              <a:t>12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843120-536E-4B87-1169-683EE145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s-ES" sz="2800" noProof="0" dirty="0"/>
              <a:t>La solución: para actualización semanales de forma </a:t>
            </a:r>
            <a:r>
              <a:rPr lang="es-ES" sz="2800" noProof="0" dirty="0" err="1"/>
              <a:t>automatica</a:t>
            </a:r>
            <a:endParaRPr lang="es-ES" sz="3000" b="1" kern="1200" spc="-150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0C7F0F-6F7C-CB8B-0B90-4E88F51A9532}"/>
              </a:ext>
            </a:extLst>
          </p:cNvPr>
          <p:cNvSpPr>
            <a:spLocks noGrp="1"/>
          </p:cNvSpPr>
          <p:nvPr/>
        </p:nvSpPr>
        <p:spPr>
          <a:xfrm>
            <a:off x="7810500" y="1131620"/>
            <a:ext cx="4101662" cy="3630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r>
              <a:rPr lang="es-ES" noProof="0" dirty="0" err="1"/>
              <a:t>Power</a:t>
            </a:r>
            <a:r>
              <a:rPr lang="es-ES" noProof="0" dirty="0"/>
              <a:t> BI </a:t>
            </a:r>
            <a:r>
              <a:rPr lang="es-ES" noProof="0" dirty="0" err="1"/>
              <a:t>Reports</a:t>
            </a:r>
            <a:r>
              <a:rPr lang="es-ES" noProof="0" dirty="0"/>
              <a:t>, con conexión online para tener datos actualizada cada semana y cada tienda acceso nuevas predicciones</a:t>
            </a:r>
          </a:p>
        </p:txBody>
      </p:sp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11291AA0-2941-B53C-DCA8-57640AE7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38" y="950934"/>
            <a:ext cx="7673538" cy="3991532"/>
          </a:xfrm>
          <a:prstGeom prst="rect">
            <a:avLst/>
          </a:prstGeom>
        </p:spPr>
      </p:pic>
      <p:pic>
        <p:nvPicPr>
          <p:cNvPr id="7" name="Picture 8" descr="GitHub Logos and Usage · GitHub">
            <a:extLst>
              <a:ext uri="{FF2B5EF4-FFF2-40B4-BE49-F238E27FC236}">
                <a16:creationId xmlns:a16="http://schemas.microsoft.com/office/drawing/2014/main" id="{CC753E15-2E13-9F47-3CC0-EBF6F0FDC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396" y="1131620"/>
            <a:ext cx="1288602" cy="129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ntappsPower Bi - Pentapps">
            <a:extLst>
              <a:ext uri="{FF2B5EF4-FFF2-40B4-BE49-F238E27FC236}">
                <a16:creationId xmlns:a16="http://schemas.microsoft.com/office/drawing/2014/main" id="{AA471B2F-CA1B-56A4-D059-831236BB14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4" r="24597"/>
          <a:stretch>
            <a:fillRect/>
          </a:stretch>
        </p:blipFill>
        <p:spPr bwMode="auto">
          <a:xfrm>
            <a:off x="9162023" y="3176839"/>
            <a:ext cx="1035169" cy="109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567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764C5A0F-3FEB-87BB-116C-89A0EBD93CD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140" r="18140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05AF522-2717-D205-28FB-DD0F68AB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Beneficio para el negocio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564831-3427-3211-91A9-0E844D12088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13</a:t>
            </a:fld>
            <a:endParaRPr lang="es-E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CA3101-B464-F317-F1E7-D4E8ABF4CA37}"/>
              </a:ext>
            </a:extLst>
          </p:cNvPr>
          <p:cNvSpPr>
            <a:spLocks noGrp="1"/>
          </p:cNvSpPr>
          <p:nvPr/>
        </p:nvSpPr>
        <p:spPr>
          <a:xfrm>
            <a:off x="120770" y="1095551"/>
            <a:ext cx="5975230" cy="3838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/>
            </a:pPr>
            <a:r>
              <a:rPr lang="es-ES" sz="2800" noProof="0" dirty="0"/>
              <a:t>💰 Ahorro de tiempo </a:t>
            </a:r>
          </a:p>
          <a:p>
            <a:pPr marL="0" indent="0" algn="ctr">
              <a:buNone/>
              <a:defRPr sz="2200"/>
            </a:pPr>
            <a:r>
              <a:rPr lang="es-ES" sz="2800" noProof="0" dirty="0"/>
              <a:t>y costos</a:t>
            </a:r>
          </a:p>
          <a:p>
            <a:pPr marL="0" indent="0" algn="ctr">
              <a:buNone/>
              <a:defRPr sz="2200"/>
            </a:pPr>
            <a:endParaRPr lang="es-ES" sz="2800" noProof="0" dirty="0"/>
          </a:p>
          <a:p>
            <a:pPr algn="ctr">
              <a:defRPr sz="2200"/>
            </a:pPr>
            <a:r>
              <a:rPr lang="es-ES" sz="2800" noProof="0" dirty="0"/>
              <a:t>📊 Información confiable</a:t>
            </a:r>
          </a:p>
          <a:p>
            <a:pPr marL="0" indent="0" algn="ctr">
              <a:buNone/>
              <a:defRPr sz="2200"/>
            </a:pPr>
            <a:endParaRPr lang="es-ES" sz="2800" noProof="0" dirty="0"/>
          </a:p>
          <a:p>
            <a:pPr algn="ctr">
              <a:defRPr sz="2200"/>
            </a:pPr>
            <a:r>
              <a:rPr lang="es-ES" sz="2800" noProof="0" dirty="0"/>
              <a:t>⚡ Decisiones más rápidas</a:t>
            </a: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4225E7FA-AED1-C1B4-F314-25496A10D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0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ción de imagen 31" descr="manos aplaudie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sz="5200" noProof="0" dirty="0"/>
              <a:t>Gracias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14</a:t>
            </a:fld>
            <a:endParaRPr lang="es-ES" noProof="0" dirty="0"/>
          </a:p>
        </p:txBody>
      </p:sp>
      <p:pic>
        <p:nvPicPr>
          <p:cNvPr id="20" name="Imagen 19" descr="Texto&#10;&#10;El contenido generado por IA puede ser incorrecto.">
            <a:extLst>
              <a:ext uri="{FF2B5EF4-FFF2-40B4-BE49-F238E27FC236}">
                <a16:creationId xmlns:a16="http://schemas.microsoft.com/office/drawing/2014/main" id="{16F9073A-CE27-5B4C-01A6-5C37B513C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251" y="6348539"/>
            <a:ext cx="2905749" cy="5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{E157057F-78C3-4B52-B341-4BDC2D0C3107}TF992e0334-4647-4579-8d14-183019b0908cc11ea5a0_win32-8afc8497b335</Template>
  <TotalTime>1180</TotalTime>
  <Words>471</Words>
  <Application>Microsoft Office PowerPoint</Application>
  <PresentationFormat>Panorámica</PresentationFormat>
  <Paragraphs>78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Candara</vt:lpstr>
      <vt:lpstr>Corbel</vt:lpstr>
      <vt:lpstr>Times New Roman</vt:lpstr>
      <vt:lpstr>Personalizado</vt:lpstr>
      <vt:lpstr>DS MARKET</vt:lpstr>
      <vt:lpstr>Analisis de los datos</vt:lpstr>
      <vt:lpstr>Análisis temporales</vt:lpstr>
      <vt:lpstr>Análisis geografica</vt:lpstr>
      <vt:lpstr>Análisis de las categorías y los departamentos</vt:lpstr>
      <vt:lpstr>Análisis del turnover de productos</vt:lpstr>
      <vt:lpstr>Modeling</vt:lpstr>
      <vt:lpstr>Análisis de las predicciones vs datos reales</vt:lpstr>
      <vt:lpstr>Prediction</vt:lpstr>
      <vt:lpstr>Como usar estas predicciones</vt:lpstr>
      <vt:lpstr>La solución: para actualización semanales de forma automatica</vt:lpstr>
      <vt:lpstr>La solución: para actualización semanales de forma automatica</vt:lpstr>
      <vt:lpstr>Beneficio para el negocio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Fitzgerald Nee</dc:creator>
  <cp:lastModifiedBy>Fitzgerald Nee</cp:lastModifiedBy>
  <cp:revision>4</cp:revision>
  <dcterms:created xsi:type="dcterms:W3CDTF">2025-12-13T10:45:43Z</dcterms:created>
  <dcterms:modified xsi:type="dcterms:W3CDTF">2025-12-14T06:25:51Z</dcterms:modified>
</cp:coreProperties>
</file>